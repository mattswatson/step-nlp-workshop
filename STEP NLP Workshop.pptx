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notesMasterIdLst>
    <p:notesMasterId r:id="rId52"/>
  </p:notesMasterIdLst>
  <p:handoutMasterIdLst>
    <p:handoutMasterId r:id="rId53"/>
  </p:handoutMasterIdLst>
  <p:sldIdLst>
    <p:sldId id="288" r:id="rId5"/>
    <p:sldId id="301" r:id="rId6"/>
    <p:sldId id="304" r:id="rId7"/>
    <p:sldId id="305" r:id="rId8"/>
    <p:sldId id="329" r:id="rId9"/>
    <p:sldId id="328" r:id="rId10"/>
    <p:sldId id="302" r:id="rId11"/>
    <p:sldId id="333" r:id="rId12"/>
    <p:sldId id="303" r:id="rId13"/>
    <p:sldId id="334" r:id="rId14"/>
    <p:sldId id="306" r:id="rId15"/>
    <p:sldId id="307" r:id="rId16"/>
    <p:sldId id="308" r:id="rId17"/>
    <p:sldId id="309" r:id="rId18"/>
    <p:sldId id="310" r:id="rId19"/>
    <p:sldId id="311" r:id="rId20"/>
    <p:sldId id="336" r:id="rId21"/>
    <p:sldId id="337" r:id="rId22"/>
    <p:sldId id="312" r:id="rId23"/>
    <p:sldId id="338" r:id="rId24"/>
    <p:sldId id="339" r:id="rId25"/>
    <p:sldId id="313" r:id="rId26"/>
    <p:sldId id="340" r:id="rId27"/>
    <p:sldId id="314" r:id="rId28"/>
    <p:sldId id="318" r:id="rId29"/>
    <p:sldId id="335" r:id="rId30"/>
    <p:sldId id="341" r:id="rId31"/>
    <p:sldId id="342" r:id="rId32"/>
    <p:sldId id="343" r:id="rId33"/>
    <p:sldId id="330" r:id="rId34"/>
    <p:sldId id="331" r:id="rId35"/>
    <p:sldId id="332" r:id="rId36"/>
    <p:sldId id="344" r:id="rId37"/>
    <p:sldId id="348" r:id="rId38"/>
    <p:sldId id="346" r:id="rId39"/>
    <p:sldId id="315" r:id="rId40"/>
    <p:sldId id="316" r:id="rId41"/>
    <p:sldId id="345" r:id="rId42"/>
    <p:sldId id="319" r:id="rId43"/>
    <p:sldId id="326" r:id="rId44"/>
    <p:sldId id="350" r:id="rId45"/>
    <p:sldId id="320" r:id="rId46"/>
    <p:sldId id="327" r:id="rId47"/>
    <p:sldId id="322" r:id="rId48"/>
    <p:sldId id="321" r:id="rId49"/>
    <p:sldId id="323" r:id="rId50"/>
    <p:sldId id="351" r:id="rId5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B73A27-FB7D-FA2A-08B0-81468AD7B27B}" name="DEAKIN, VICTORIA C." initials="DC" userId="S::mhtt35@durham.ac.uk::a6b756a3-922e-413a-8306-a8773d6cdc55" providerId="AD"/>
  <p188:author id="{C0D8E72B-C62F-8D4C-B628-914DA185F1B8}" name="HUGHES, LOUISE M." initials="LH" userId="S::dde4lmh@durham.ac.uk::ac37df6b-ac92-4619-938b-7dcd34b6cd87" providerId="AD"/>
  <p188:author id="{38C3EF5E-68D5-8F4B-D859-0D8D9264F542}" name="HEDGES, AMY" initials="AH" userId="S::znvf14@durham.ac.uk::7a961ccf-8a2d-4134-8a0f-23419027c7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246D"/>
    <a:srgbClr val="CBA8B1"/>
    <a:srgbClr val="F5F5F5"/>
    <a:srgbClr val="00AEEF"/>
    <a:srgbClr val="A5C8D0"/>
    <a:srgbClr val="FFEFC1"/>
    <a:srgbClr val="FFD53A"/>
    <a:srgbClr val="54135A"/>
    <a:srgbClr val="109DEC"/>
    <a:srgbClr val="0A9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75"/>
    <p:restoredTop sz="94624"/>
  </p:normalViewPr>
  <p:slideViewPr>
    <p:cSldViewPr snapToGrid="0">
      <p:cViewPr varScale="1">
        <p:scale>
          <a:sx n="148" d="100"/>
          <a:sy n="148" d="100"/>
        </p:scale>
        <p:origin x="21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8/10/relationships/authors" Target="author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ACD56-CA7D-3A42-9B42-9FD56464B91C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8D3B8-2EC2-4F46-B8AF-ABD68D9214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7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A240-A625-E149-8CAC-4600AA6339D6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BB083-78D9-574F-923A-5D03EC8477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353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WM: machine translation, proposed 4 ideas, some of which we still use today. Some not necessarily hold true though: relatively few words have double meaning!</a:t>
            </a:r>
          </a:p>
          <a:p>
            <a:r>
              <a:rPr lang="en-GB" dirty="0"/>
              <a:t>Next three can be boiled down to different types of rule-based methods.</a:t>
            </a:r>
          </a:p>
          <a:p>
            <a:r>
              <a:rPr lang="en-GB" dirty="0"/>
              <a:t>Statistical/probabilistic methods are what is still popular 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BB083-78D9-574F-923A-5D03EC8477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541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Lots of possible answers, some more “likely” than others. No one likely says I left my umbrella at giraffe!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BB083-78D9-574F-923A-5D03EC8477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480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4B311-83B4-9A42-B5A8-3084349FB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D776D8-8760-070F-1E3C-942AE0200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74411-067D-924A-86BD-8FE90450F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3ADC7-A418-FA80-AA12-EC770BE63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BB083-78D9-574F-923A-5D03EC8477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270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can we convert words, and their meaning, to numbers for a computer to understand?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BB083-78D9-574F-923A-5D03EC8477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888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did you know which category each was in? How would you teach someone to do this task?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BB083-78D9-574F-923A-5D03EC8477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734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F918-7DDC-FC27-9504-B2FAA57E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8B6C68-7FDC-3BA7-553B-4E24E5EBE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F6ACC-184B-BDF7-B7C0-0497D6EF1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can we convert words, and their meaning, to numbers for a computer to understand?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6260C-821F-17EA-9FCB-7D035951A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BB083-78D9-574F-923A-5D03EC8477A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255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particular embedding was trained on articles sources from Google News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DBB083-78D9-574F-923A-5D03EC8477A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56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10251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320433"/>
            <a:ext cx="3321422" cy="131445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5494" y="246301"/>
            <a:ext cx="1588504" cy="65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10251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320433"/>
            <a:ext cx="3321422" cy="131445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5494" y="246301"/>
            <a:ext cx="1588504" cy="65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10251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320433"/>
            <a:ext cx="3321422" cy="131445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5494" y="246301"/>
            <a:ext cx="1588504" cy="65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10251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2800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320433"/>
            <a:ext cx="3321422" cy="131445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5494" y="246301"/>
            <a:ext cx="1588504" cy="65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754" y="1254162"/>
            <a:ext cx="3321422" cy="110251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320433"/>
            <a:ext cx="3321422" cy="131445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2A4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5494" y="246301"/>
            <a:ext cx="1588504" cy="65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3" y="277484"/>
            <a:ext cx="7902388" cy="857250"/>
          </a:xfrm>
        </p:spPr>
        <p:txBody>
          <a:bodyPr lIns="0" tIns="0" rIns="0" bIns="0" anchor="t">
            <a:noAutofit/>
          </a:bodyPr>
          <a:lstStyle>
            <a:lvl1pPr algn="l">
              <a:defRPr sz="24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489" y="4672835"/>
            <a:ext cx="765505" cy="3176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621553" y="1224708"/>
            <a:ext cx="5702678" cy="291465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3" y="277484"/>
            <a:ext cx="7902388" cy="857250"/>
          </a:xfrm>
        </p:spPr>
        <p:txBody>
          <a:bodyPr lIns="0" tIns="0" rIns="0" bIns="0" anchor="t">
            <a:noAutofit/>
          </a:bodyPr>
          <a:lstStyle>
            <a:lvl1pPr algn="l">
              <a:defRPr sz="24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489" y="4672835"/>
            <a:ext cx="765505" cy="317603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621553" y="1224708"/>
            <a:ext cx="3807190" cy="291465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4716751" y="1224708"/>
            <a:ext cx="3807190" cy="291465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800"/>
              </a:spcBef>
              <a:buClr>
                <a:srgbClr val="68246D"/>
              </a:buClr>
              <a:buFont typeface="Arial"/>
              <a:buChar char="•"/>
              <a:defRPr sz="18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800"/>
              </a:spcBef>
              <a:buFont typeface="Lucida Grande"/>
              <a:buChar char="–"/>
              <a:defRPr sz="18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553" y="277484"/>
            <a:ext cx="7902388" cy="857250"/>
          </a:xfrm>
        </p:spPr>
        <p:txBody>
          <a:bodyPr lIns="0" tIns="0" rIns="0" bIns="0" anchor="t">
            <a:noAutofit/>
          </a:bodyPr>
          <a:lstStyle>
            <a:lvl1pPr algn="l">
              <a:defRPr sz="24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489" y="4672835"/>
            <a:ext cx="765505" cy="317603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1553" y="1224708"/>
            <a:ext cx="2435053" cy="291465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4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3355221" y="1224708"/>
            <a:ext cx="2435053" cy="291465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4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6088888" y="1224708"/>
            <a:ext cx="2435053" cy="291465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400">
                <a:solidFill>
                  <a:srgbClr val="002A41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400"/>
              </a:spcBef>
              <a:buClr>
                <a:srgbClr val="68246D"/>
              </a:buClr>
              <a:buFont typeface="Arial"/>
              <a:buChar char="•"/>
              <a:defRPr sz="1400">
                <a:solidFill>
                  <a:srgbClr val="002A41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400"/>
              </a:spcBef>
              <a:buFont typeface="Lucida Grande"/>
              <a:buChar char="–"/>
              <a:defRPr sz="1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489" y="4672835"/>
            <a:ext cx="765505" cy="317603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133494" y="1224708"/>
            <a:ext cx="5168900" cy="291465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54145A"/>
                </a:solidFill>
                <a:latin typeface="Arial"/>
                <a:cs typeface="Arial"/>
              </a:defRPr>
            </a:lvl1pPr>
            <a:lvl2pPr marL="288000" indent="-288000">
              <a:spcBef>
                <a:spcPts val="1000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54145A"/>
                </a:solidFill>
                <a:latin typeface="Arial"/>
                <a:cs typeface="Arial"/>
              </a:defRPr>
            </a:lvl2pPr>
            <a:lvl3pPr marL="576000" indent="-288000">
              <a:spcBef>
                <a:spcPts val="1000"/>
              </a:spcBef>
              <a:buFont typeface="Lucida Grande"/>
              <a:buChar char="–"/>
              <a:defRPr sz="24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2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or.tensorflow.org/" TargetMode="Externa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ttswatson/step-nlp-workshop" TargetMode="Externa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ttswatson/step-nlp-workshop" TargetMode="Externa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mptingguide.ai/" TargetMode="Externa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promptingguide.ai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9882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Natural Language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b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754" y="2716893"/>
            <a:ext cx="3321422" cy="1314450"/>
          </a:xfrm>
        </p:spPr>
        <p:txBody>
          <a:bodyPr/>
          <a:lstStyle/>
          <a:p>
            <a:r>
              <a:rPr lang="en-GB" dirty="0"/>
              <a:t>STEP Summer School </a:t>
            </a:r>
          </a:p>
          <a:p>
            <a:r>
              <a:rPr lang="en-GB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43338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D84A47-ABE3-F355-38A0-82B9E4E6E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Natural Language Processing?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11AA80-B023-DF6D-4787-A4D4173A202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Converting text into something a computer can understand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Why? </a:t>
            </a:r>
            <a:endParaRPr lang="en-GB" dirty="0"/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Autocomplete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Text classification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Translation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LLMs (chatbots)</a:t>
            </a:r>
          </a:p>
        </p:txBody>
      </p:sp>
    </p:spTree>
    <p:extLst>
      <p:ext uri="{BB962C8B-B14F-4D97-AF65-F5344CB8AC3E}">
        <p14:creationId xmlns:p14="http://schemas.microsoft.com/office/powerpoint/2010/main" val="336492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B2E2F-8D26-04D1-E589-3E0B6A05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Case: Text Classification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DDA4C5B8-0C18-A570-4241-566157C06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122" y="2727623"/>
            <a:ext cx="1927832" cy="153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67;p15">
            <a:extLst>
              <a:ext uri="{FF2B5EF4-FFF2-40B4-BE49-F238E27FC236}">
                <a16:creationId xmlns:a16="http://schemas.microsoft.com/office/drawing/2014/main" id="{38EB7CEA-3604-A334-8ECB-CC5B139D65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49099"/>
          <a:stretch/>
        </p:blipFill>
        <p:spPr>
          <a:xfrm>
            <a:off x="4660800" y="1574088"/>
            <a:ext cx="4247975" cy="264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68;p15">
            <a:extLst>
              <a:ext uri="{FF2B5EF4-FFF2-40B4-BE49-F238E27FC236}">
                <a16:creationId xmlns:a16="http://schemas.microsoft.com/office/drawing/2014/main" id="{FA0A9C63-797C-1AA0-9240-F1452CCDA4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21328" b="51765"/>
          <a:stretch/>
        </p:blipFill>
        <p:spPr>
          <a:xfrm>
            <a:off x="434650" y="1574088"/>
            <a:ext cx="3829314" cy="2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0;p15">
            <a:extLst>
              <a:ext uri="{FF2B5EF4-FFF2-40B4-BE49-F238E27FC236}">
                <a16:creationId xmlns:a16="http://schemas.microsoft.com/office/drawing/2014/main" id="{BD2A46C8-CF15-1504-9492-3D6B8BEA622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625" y="1073886"/>
            <a:ext cx="18573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5">
            <a:extLst>
              <a:ext uri="{FF2B5EF4-FFF2-40B4-BE49-F238E27FC236}">
                <a16:creationId xmlns:a16="http://schemas.microsoft.com/office/drawing/2014/main" id="{C8247CDF-6C57-11B4-CFE2-8C0050D48D6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8650" y="2109111"/>
            <a:ext cx="22193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72;p15">
            <a:extLst>
              <a:ext uri="{FF2B5EF4-FFF2-40B4-BE49-F238E27FC236}">
                <a16:creationId xmlns:a16="http://schemas.microsoft.com/office/drawing/2014/main" id="{45F1A9F7-6402-07B2-847F-B67191C149FF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1675" y="1017725"/>
            <a:ext cx="3907098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3;p15">
            <a:extLst>
              <a:ext uri="{FF2B5EF4-FFF2-40B4-BE49-F238E27FC236}">
                <a16:creationId xmlns:a16="http://schemas.microsoft.com/office/drawing/2014/main" id="{B0434C1B-298D-8C62-C590-1EE2447394A2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72075" y="1988461"/>
            <a:ext cx="2295525" cy="257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824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C9C8-B5F4-36BF-CD55-3DE33266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Case: Text Classification</a:t>
            </a:r>
          </a:p>
        </p:txBody>
      </p:sp>
      <p:pic>
        <p:nvPicPr>
          <p:cNvPr id="4" name="Google Shape;85;p17">
            <a:extLst>
              <a:ext uri="{FF2B5EF4-FFF2-40B4-BE49-F238E27FC236}">
                <a16:creationId xmlns:a16="http://schemas.microsoft.com/office/drawing/2014/main" id="{4AA2299A-A674-5473-55CE-72A928A1227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568" t="9791" r="3711" b="27042"/>
          <a:stretch/>
        </p:blipFill>
        <p:spPr>
          <a:xfrm>
            <a:off x="543000" y="2659525"/>
            <a:ext cx="2611175" cy="238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6;p17">
            <a:extLst>
              <a:ext uri="{FF2B5EF4-FFF2-40B4-BE49-F238E27FC236}">
                <a16:creationId xmlns:a16="http://schemas.microsoft.com/office/drawing/2014/main" id="{0236EE5F-BEEB-2FDC-C716-E14BA2A9D3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00" y="1103650"/>
            <a:ext cx="3183576" cy="15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7;p17">
            <a:extLst>
              <a:ext uri="{FF2B5EF4-FFF2-40B4-BE49-F238E27FC236}">
                <a16:creationId xmlns:a16="http://schemas.microsoft.com/office/drawing/2014/main" id="{87D4B6DD-B721-A01E-E79F-A89D3B92A2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60704"/>
          <a:stretch/>
        </p:blipFill>
        <p:spPr>
          <a:xfrm>
            <a:off x="4699350" y="829550"/>
            <a:ext cx="4211349" cy="8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8;p17">
            <a:extLst>
              <a:ext uri="{FF2B5EF4-FFF2-40B4-BE49-F238E27FC236}">
                <a16:creationId xmlns:a16="http://schemas.microsoft.com/office/drawing/2014/main" id="{64FBAFA2-E800-A83F-ACC4-F3D9AB5FB15F}"/>
              </a:ext>
            </a:extLst>
          </p:cNvPr>
          <p:cNvSpPr/>
          <p:nvPr/>
        </p:nvSpPr>
        <p:spPr>
          <a:xfrm>
            <a:off x="4699525" y="1701425"/>
            <a:ext cx="4211400" cy="22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89;p17">
            <a:extLst>
              <a:ext uri="{FF2B5EF4-FFF2-40B4-BE49-F238E27FC236}">
                <a16:creationId xmlns:a16="http://schemas.microsoft.com/office/drawing/2014/main" id="{7BAC768A-2FAC-E235-AFF5-66200102A91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5449" y="1751875"/>
            <a:ext cx="2966025" cy="19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0;p17">
            <a:extLst>
              <a:ext uri="{FF2B5EF4-FFF2-40B4-BE49-F238E27FC236}">
                <a16:creationId xmlns:a16="http://schemas.microsoft.com/office/drawing/2014/main" id="{C20184E9-46B0-D039-988D-7D3423FF17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80489"/>
          <a:stretch/>
        </p:blipFill>
        <p:spPr>
          <a:xfrm>
            <a:off x="4699350" y="3771150"/>
            <a:ext cx="4211349" cy="4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866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9E48-F2BE-BC8C-A4D0-5D2AB50A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Case: Entity Recognition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3FDD81-0427-119F-2AFC-0A7E697464A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900595" y="2366839"/>
            <a:ext cx="7835395" cy="40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2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23B6B-B216-8AF1-9817-CDF1566B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NLP: A Brief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2EAB5-53B0-B32C-FD22-CE3EBFAB822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A Brief History of Natural Language Processing — Part 1 | by Antoine Louis  | Medium">
            <a:extLst>
              <a:ext uri="{FF2B5EF4-FFF2-40B4-BE49-F238E27FC236}">
                <a16:creationId xmlns:a16="http://schemas.microsoft.com/office/drawing/2014/main" id="{031EB123-A560-6EF8-1E01-C4CB977AC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2950"/>
            <a:ext cx="9144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79787C-B983-EC2D-1E62-D3FCAFB75E4D}"/>
              </a:ext>
            </a:extLst>
          </p:cNvPr>
          <p:cNvSpPr txBox="1"/>
          <p:nvPr/>
        </p:nvSpPr>
        <p:spPr>
          <a:xfrm>
            <a:off x="2567239" y="4881890"/>
            <a:ext cx="75139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dirty="0"/>
              <a:t>Source: </a:t>
            </a:r>
            <a:r>
              <a:rPr lang="en-GB" sz="1100" dirty="0"/>
              <a:t>https://</a:t>
            </a:r>
            <a:r>
              <a:rPr lang="en-GB" sz="1100" dirty="0" err="1"/>
              <a:t>medium.com</a:t>
            </a:r>
            <a:r>
              <a:rPr lang="en-GB" sz="1100" dirty="0"/>
              <a:t>/@</a:t>
            </a:r>
            <a:r>
              <a:rPr lang="en-GB" sz="1100" dirty="0" err="1"/>
              <a:t>antoine.louis</a:t>
            </a:r>
            <a:r>
              <a:rPr lang="en-GB" sz="1100" dirty="0"/>
              <a:t>/a-brief-history-of-natural-language-processing-part-1-ffbcb937ebce</a:t>
            </a:r>
          </a:p>
        </p:txBody>
      </p:sp>
    </p:spTree>
    <p:extLst>
      <p:ext uri="{BB962C8B-B14F-4D97-AF65-F5344CB8AC3E}">
        <p14:creationId xmlns:p14="http://schemas.microsoft.com/office/powerpoint/2010/main" val="2404998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BD11A-7D4E-941D-1B06-943A7B4A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Solve these sums…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F02A57-5916-EE49-2300-29259BE3782F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3 + 5 =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(5 + 5) * 2 =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b="0" i="1" smtClean="0">
                            <a:latin typeface="Cambria Math" panose="02040503050406030204" pitchFamily="18" charset="0"/>
                          </a:rPr>
                          <m:t>dx</m:t>
                        </m:r>
                      </m:e>
                    </m:nary>
                  </m:oMath>
                </a14:m>
                <a:r>
                  <a:rPr lang="en-GB" dirty="0"/>
                  <a:t> =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F02A57-5916-EE49-2300-29259BE37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3333" t="-26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0739-162A-ACBC-3CA5-86B0A3CB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9393-5B75-A70A-4FE0-ED036F404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Finish the sentences…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734FE-F96E-8E50-1200-A422FEEBDAA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cat sat on the…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 left my umbrella at…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 go back to work on…</a:t>
            </a:r>
          </a:p>
        </p:txBody>
      </p:sp>
    </p:spTree>
    <p:extLst>
      <p:ext uri="{BB962C8B-B14F-4D97-AF65-F5344CB8AC3E}">
        <p14:creationId xmlns:p14="http://schemas.microsoft.com/office/powerpoint/2010/main" val="2836464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605E9-1717-78C8-1E5D-9E908790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B52E-AD4A-80D4-ABE0-BE635EBA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Finish the sentences…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1FD90-0ECB-A53C-DA4E-71D21A4A5A4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2" y="1224708"/>
            <a:ext cx="6728153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cat sat on the </a:t>
            </a:r>
            <a:r>
              <a:rPr lang="en-GB" b="1" dirty="0"/>
              <a:t>mat. </a:t>
            </a:r>
            <a:r>
              <a:rPr lang="en-GB" dirty="0"/>
              <a:t>(box, floor, table…)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 left my umbrella at </a:t>
            </a:r>
            <a:r>
              <a:rPr lang="en-GB" b="1" dirty="0"/>
              <a:t>home. </a:t>
            </a:r>
            <a:r>
              <a:rPr lang="en-GB" dirty="0"/>
              <a:t>(work, school, the…)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 go back to work on </a:t>
            </a:r>
            <a:r>
              <a:rPr lang="en-GB" b="1" dirty="0"/>
              <a:t>Monday. </a:t>
            </a:r>
            <a:r>
              <a:rPr lang="en-GB" dirty="0"/>
              <a:t>(Tuesday, Wednesday…)</a:t>
            </a:r>
          </a:p>
        </p:txBody>
      </p:sp>
    </p:spTree>
    <p:extLst>
      <p:ext uri="{BB962C8B-B14F-4D97-AF65-F5344CB8AC3E}">
        <p14:creationId xmlns:p14="http://schemas.microsoft.com/office/powerpoint/2010/main" val="236302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F584-C3B7-FD90-C033-5BEE7F6F6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729F-5F07-7935-2C04-7DDD881C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804" y="2143125"/>
            <a:ext cx="6886392" cy="857250"/>
          </a:xfrm>
        </p:spPr>
        <p:txBody>
          <a:bodyPr/>
          <a:lstStyle/>
          <a:p>
            <a:r>
              <a:rPr lang="en-GB" dirty="0"/>
              <a:t>Problem: </a:t>
            </a:r>
            <a:r>
              <a:rPr lang="en-GB" b="0" dirty="0"/>
              <a:t>sentences have multiple correct endings</a:t>
            </a:r>
          </a:p>
        </p:txBody>
      </p:sp>
    </p:spTree>
    <p:extLst>
      <p:ext uri="{BB962C8B-B14F-4D97-AF65-F5344CB8AC3E}">
        <p14:creationId xmlns:p14="http://schemas.microsoft.com/office/powerpoint/2010/main" val="201120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9FE4-7A83-5BEA-14B3-91A445E5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361" y="2252933"/>
            <a:ext cx="5201277" cy="857250"/>
          </a:xfrm>
        </p:spPr>
        <p:txBody>
          <a:bodyPr/>
          <a:lstStyle/>
          <a:p>
            <a:pPr algn="ctr"/>
            <a:r>
              <a:rPr lang="en-GB" dirty="0"/>
              <a:t>Problem: </a:t>
            </a:r>
            <a:r>
              <a:rPr lang="en-GB" b="0" dirty="0"/>
              <a:t>computers like numbers, and need algorithms</a:t>
            </a:r>
          </a:p>
        </p:txBody>
      </p:sp>
    </p:spTree>
    <p:extLst>
      <p:ext uri="{BB962C8B-B14F-4D97-AF65-F5344CB8AC3E}">
        <p14:creationId xmlns:p14="http://schemas.microsoft.com/office/powerpoint/2010/main" val="577583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161A-4A99-27F3-28D0-598D400B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Film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1161-EC2E-B84B-8ED2-7AD8D108D8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3" y="1224708"/>
            <a:ext cx="7746070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We’re going to classify film reviews into </a:t>
            </a:r>
            <a:r>
              <a:rPr lang="en-GB" b="1" dirty="0"/>
              <a:t>positive </a:t>
            </a:r>
            <a:r>
              <a:rPr lang="en-GB" dirty="0"/>
              <a:t>and </a:t>
            </a:r>
            <a:r>
              <a:rPr lang="en-GB" b="1" dirty="0"/>
              <a:t>negative </a:t>
            </a:r>
            <a:r>
              <a:rPr lang="en-GB" dirty="0"/>
              <a:t>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6521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EF1C-3725-6370-8738-06E7E296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E7E6-FD97-89E9-C9B0-D360A770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Film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D7C5C-5685-6D21-9A1D-BACB8786CE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3" y="1224708"/>
            <a:ext cx="7746070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We’re going to classify film reviews into </a:t>
            </a:r>
            <a:r>
              <a:rPr lang="en-GB" b="1" dirty="0"/>
              <a:t>positive </a:t>
            </a:r>
            <a:r>
              <a:rPr lang="en-GB" dirty="0"/>
              <a:t>and </a:t>
            </a:r>
            <a:r>
              <a:rPr lang="en-GB" b="1" dirty="0"/>
              <a:t>negative </a:t>
            </a:r>
            <a:r>
              <a:rPr lang="en-GB" dirty="0"/>
              <a:t>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brilliant film, the acting was superb and I loved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boring, lazy film. Don’t bother watching it!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Great acting, but the story was awful.</a:t>
            </a:r>
          </a:p>
        </p:txBody>
      </p:sp>
    </p:spTree>
    <p:extLst>
      <p:ext uri="{BB962C8B-B14F-4D97-AF65-F5344CB8AC3E}">
        <p14:creationId xmlns:p14="http://schemas.microsoft.com/office/powerpoint/2010/main" val="2806324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E7ECA-BFCA-5E22-0716-DA231E9AA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AD62C-E2E6-0B11-13BC-C167F540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Film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523E2-9988-C4F0-C81B-C7DE65DBF9A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3" y="1224708"/>
            <a:ext cx="7746070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We’re going to classify film reviews into </a:t>
            </a:r>
            <a:r>
              <a:rPr lang="en-GB" b="1" dirty="0"/>
              <a:t>positive </a:t>
            </a:r>
            <a:r>
              <a:rPr lang="en-GB" dirty="0"/>
              <a:t>and </a:t>
            </a:r>
            <a:r>
              <a:rPr lang="en-GB" b="1" dirty="0"/>
              <a:t>negative </a:t>
            </a:r>
            <a:r>
              <a:rPr lang="en-GB" dirty="0"/>
              <a:t>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brilliant film, the acting was superb and I loved it. </a:t>
            </a:r>
            <a:r>
              <a:rPr lang="en-GB" b="1" dirty="0"/>
              <a:t>Positive.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boring, lazy film. Don’t bother watching it!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Great acting, but the story was awful.</a:t>
            </a:r>
          </a:p>
        </p:txBody>
      </p:sp>
    </p:spTree>
    <p:extLst>
      <p:ext uri="{BB962C8B-B14F-4D97-AF65-F5344CB8AC3E}">
        <p14:creationId xmlns:p14="http://schemas.microsoft.com/office/powerpoint/2010/main" val="2885881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F638A-7D1A-58C1-E6D4-C6915640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4CD29-A306-9C50-65F7-5F3B9944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Film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EDC18-8899-EC3D-CCB0-1A6ED229F87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3" y="1224708"/>
            <a:ext cx="7746070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We’re going to classify film reviews into </a:t>
            </a:r>
            <a:r>
              <a:rPr lang="en-GB" b="1" dirty="0"/>
              <a:t>positive </a:t>
            </a:r>
            <a:r>
              <a:rPr lang="en-GB" dirty="0"/>
              <a:t>and </a:t>
            </a:r>
            <a:r>
              <a:rPr lang="en-GB" b="1" dirty="0"/>
              <a:t>negative </a:t>
            </a:r>
            <a:r>
              <a:rPr lang="en-GB" dirty="0"/>
              <a:t>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brilliant film, the acting was superb and I loved it. </a:t>
            </a:r>
            <a:r>
              <a:rPr lang="en-GB" b="1" dirty="0"/>
              <a:t>Positive.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boring, lazy film. Don’t bother watching it! </a:t>
            </a:r>
            <a:r>
              <a:rPr lang="en-GB" b="1" dirty="0"/>
              <a:t>Negative.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Great acting, but the story was awful.</a:t>
            </a:r>
          </a:p>
        </p:txBody>
      </p:sp>
    </p:spTree>
    <p:extLst>
      <p:ext uri="{BB962C8B-B14F-4D97-AF65-F5344CB8AC3E}">
        <p14:creationId xmlns:p14="http://schemas.microsoft.com/office/powerpoint/2010/main" val="1642171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EC0F-19F1-33BD-2FEC-3885A1BA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C778-77B0-5B25-F801-5F284629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Film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C3CC9-FB0E-336D-D5D3-39890E8143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3" y="1224708"/>
            <a:ext cx="7746070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We’re going to classify film reviews into </a:t>
            </a:r>
            <a:r>
              <a:rPr lang="en-GB" b="1" dirty="0"/>
              <a:t>positive </a:t>
            </a:r>
            <a:r>
              <a:rPr lang="en-GB" dirty="0"/>
              <a:t>and </a:t>
            </a:r>
            <a:r>
              <a:rPr lang="en-GB" b="1" dirty="0"/>
              <a:t>negative </a:t>
            </a:r>
            <a:r>
              <a:rPr lang="en-GB" dirty="0"/>
              <a:t>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brilliant film, the acting was superb and I loved it. </a:t>
            </a:r>
            <a:r>
              <a:rPr lang="en-GB" b="1" dirty="0"/>
              <a:t>Positive.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boring, lazy film. Don’t bother watching it! </a:t>
            </a:r>
            <a:r>
              <a:rPr lang="en-GB" b="1" dirty="0"/>
              <a:t>Negative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Great acting, but the story was awful. </a:t>
            </a:r>
            <a:r>
              <a:rPr lang="en-GB" b="1" dirty="0"/>
              <a:t>Both?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800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FCB49-D7B5-5B84-930B-22B7A74A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 of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397C8-94AA-7AFD-8C65-D5DAE6CF95D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simple technique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group words by meaning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count occurrence of words in each group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For our film review task: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Positive words, negative words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For each sentence, find the group that occurs the most</a:t>
            </a:r>
          </a:p>
        </p:txBody>
      </p:sp>
    </p:spTree>
    <p:extLst>
      <p:ext uri="{BB962C8B-B14F-4D97-AF65-F5344CB8AC3E}">
        <p14:creationId xmlns:p14="http://schemas.microsoft.com/office/powerpoint/2010/main" val="2391800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D302-E3F7-9E60-FF75-4BD7E12A4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 of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C098C-A724-E7D9-611B-0CFE2721D30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do we make our lists of positive and negative words?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need </a:t>
            </a:r>
            <a:r>
              <a:rPr lang="en-GB" b="1" dirty="0"/>
              <a:t>training data</a:t>
            </a:r>
            <a:r>
              <a:rPr lang="en-GB" dirty="0"/>
              <a:t>: examples we can collect these words from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Then we test our technique on </a:t>
            </a:r>
            <a:r>
              <a:rPr lang="en-GB" b="1" dirty="0"/>
              <a:t>validation data: </a:t>
            </a:r>
            <a:r>
              <a:rPr lang="en-GB" dirty="0"/>
              <a:t>to see how well it works on unseen data</a:t>
            </a:r>
          </a:p>
        </p:txBody>
      </p:sp>
    </p:spTree>
    <p:extLst>
      <p:ext uri="{BB962C8B-B14F-4D97-AF65-F5344CB8AC3E}">
        <p14:creationId xmlns:p14="http://schemas.microsoft.com/office/powerpoint/2010/main" val="2638421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5F7A-8436-0062-8A1E-0F6B14009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 of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3C98E-E410-5474-240D-9A45C3CFE6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2" y="1224708"/>
            <a:ext cx="7659805" cy="2914650"/>
          </a:xfrm>
        </p:spPr>
        <p:txBody>
          <a:bodyPr/>
          <a:lstStyle/>
          <a:p>
            <a:r>
              <a:rPr lang="en-GB" dirty="0"/>
              <a:t>You’ve been given a list of 14 short film reviews. Follow these steps to try to classify them into positive and negative classes: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Read each review and build two lists: positive words and negative words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Words like “and”, “I” can be ignored.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Then, for each review, count the number of positive vs. negative words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Most words in each review “wins”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problems do you come across?</a:t>
            </a:r>
          </a:p>
        </p:txBody>
      </p:sp>
    </p:spTree>
    <p:extLst>
      <p:ext uri="{BB962C8B-B14F-4D97-AF65-F5344CB8AC3E}">
        <p14:creationId xmlns:p14="http://schemas.microsoft.com/office/powerpoint/2010/main" val="340883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2CAC-F03B-6671-6AA7-509EE0BD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 of Words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3E1F44-D33E-5DCE-B77A-81AE22BED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07439"/>
              </p:ext>
            </p:extLst>
          </p:nvPr>
        </p:nvGraphicFramePr>
        <p:xfrm>
          <a:off x="1763485" y="1332230"/>
          <a:ext cx="5943600" cy="279908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1247029779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911971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effectLst/>
                        </a:rPr>
                        <a:t>Positive words</a:t>
                      </a:r>
                      <a:endParaRPr lang="en-GB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dirty="0">
                          <a:effectLst/>
                        </a:rPr>
                        <a:t>Negative words</a:t>
                      </a:r>
                      <a:endParaRPr lang="en-GB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926488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brilliant, superb, loved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boring, lazy, terrible, awful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3351025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funny, clever, best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dull, bored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2072832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wonderful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poor, dreadful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1893964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perfect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disappointing, forgettable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1134868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great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1584474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brilliant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258833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effectLst/>
                        </a:rPr>
                        <a:t> 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1153074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effectLst/>
                        </a:rPr>
                        <a:t> 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/>
                </a:tc>
                <a:extLst>
                  <a:ext uri="{0D108BD9-81ED-4DB2-BD59-A6C34878D82A}">
                    <a16:rowId xmlns:a16="http://schemas.microsoft.com/office/drawing/2014/main" val="3481331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372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E1E38-677C-814E-A365-48668F86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 of Words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5C2248-D682-1AEC-8ADD-B428606B3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723648"/>
              </p:ext>
            </p:extLst>
          </p:nvPr>
        </p:nvGraphicFramePr>
        <p:xfrm>
          <a:off x="2036105" y="628650"/>
          <a:ext cx="5071789" cy="4416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952">
                  <a:extLst>
                    <a:ext uri="{9D8B030D-6E8A-4147-A177-3AD203B41FA5}">
                      <a16:colId xmlns:a16="http://schemas.microsoft.com/office/drawing/2014/main" val="3096183076"/>
                    </a:ext>
                  </a:extLst>
                </a:gridCol>
                <a:gridCol w="3809260">
                  <a:extLst>
                    <a:ext uri="{9D8B030D-6E8A-4147-A177-3AD203B41FA5}">
                      <a16:colId xmlns:a16="http://schemas.microsoft.com/office/drawing/2014/main" val="657430480"/>
                    </a:ext>
                  </a:extLst>
                </a:gridCol>
                <a:gridCol w="926577">
                  <a:extLst>
                    <a:ext uri="{9D8B030D-6E8A-4147-A177-3AD203B41FA5}">
                      <a16:colId xmlns:a16="http://schemas.microsoft.com/office/drawing/2014/main" val="3325342550"/>
                    </a:ext>
                  </a:extLst>
                </a:gridCol>
              </a:tblGrid>
              <a:tr h="230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#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9226" marR="29226" marT="29226" marB="2922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Review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29226" marB="2922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Your verdict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29226" marB="29226"/>
                </a:tc>
                <a:extLst>
                  <a:ext uri="{0D108BD9-81ED-4DB2-BD59-A6C34878D82A}">
                    <a16:rowId xmlns:a16="http://schemas.microsoft.com/office/drawing/2014/main" val="2705229832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A brilliant film. The acting was superb and I loved every minute.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0" dirty="0">
                          <a:effectLst/>
                        </a:rPr>
                        <a:t>P</a:t>
                      </a:r>
                      <a:endParaRPr lang="en-GB" sz="105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3295893874"/>
                  </a:ext>
                </a:extLst>
              </a:tr>
              <a:tr h="420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Funny, clever and beautifully shot. One of the best I've seen this year.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P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2474417628"/>
                  </a:ext>
                </a:extLst>
              </a:tr>
              <a:tr h="420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A boring, lazy film. The plot was terrible and the acting was awful.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702761989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Dull and predictable. I was bored the whole way through.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2176894966"/>
                  </a:ext>
                </a:extLst>
              </a:tr>
              <a:tr h="420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Wonderful performances and a heartwarming story. Highly recommend.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P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2958565698"/>
                  </a:ext>
                </a:extLst>
              </a:tr>
              <a:tr h="420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A complete waste of time. Weak story, poor acting, dreadful ending.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3542800910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Gripping from start to finish. The ending was perfect.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P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1096524644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Disappointing and forgettable. Nothing about it worked.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903255480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9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Great acting, but the story was a mess.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</a:t>
                      </a: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174319877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10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The first half was brilliant; the second half fell apart.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P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3381993517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11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This was not good at all.   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P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3013712201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12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Not bad, actually — I enjoyed it more than I expected.   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508199920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13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Oh great, another two hours I'll never get back.   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P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1120111443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14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Far from boring.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185694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709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B3265-63C9-970F-559C-51C5D41AA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22E21-894E-B02C-9B05-B6791994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361" y="1933756"/>
            <a:ext cx="5201277" cy="857250"/>
          </a:xfrm>
        </p:spPr>
        <p:txBody>
          <a:bodyPr/>
          <a:lstStyle/>
          <a:p>
            <a:r>
              <a:rPr lang="en-GB" dirty="0"/>
              <a:t>Problem: </a:t>
            </a:r>
            <a:r>
              <a:rPr lang="en-GB" b="0" dirty="0"/>
              <a:t>computers like numbers!</a:t>
            </a:r>
            <a:br>
              <a:rPr lang="en-GB" b="0" dirty="0"/>
            </a:br>
            <a:br>
              <a:rPr lang="en-GB" b="0" dirty="0"/>
            </a:br>
            <a:r>
              <a:rPr lang="en-GB" dirty="0"/>
              <a:t>Solution: </a:t>
            </a:r>
            <a:r>
              <a:rPr lang="en-GB" b="0" dirty="0"/>
              <a:t>use word counts?</a:t>
            </a:r>
          </a:p>
        </p:txBody>
      </p:sp>
    </p:spTree>
    <p:extLst>
      <p:ext uri="{BB962C8B-B14F-4D97-AF65-F5344CB8AC3E}">
        <p14:creationId xmlns:p14="http://schemas.microsoft.com/office/powerpoint/2010/main" val="1787938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4654-4A46-1446-7749-6657A011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47B4-EBB7-E9A0-7715-49921E31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 of Words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63F4A8-76AF-B835-19B2-44C04E577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34490"/>
              </p:ext>
            </p:extLst>
          </p:nvPr>
        </p:nvGraphicFramePr>
        <p:xfrm>
          <a:off x="2036105" y="628650"/>
          <a:ext cx="5071789" cy="4416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952">
                  <a:extLst>
                    <a:ext uri="{9D8B030D-6E8A-4147-A177-3AD203B41FA5}">
                      <a16:colId xmlns:a16="http://schemas.microsoft.com/office/drawing/2014/main" val="3096183076"/>
                    </a:ext>
                  </a:extLst>
                </a:gridCol>
                <a:gridCol w="3809260">
                  <a:extLst>
                    <a:ext uri="{9D8B030D-6E8A-4147-A177-3AD203B41FA5}">
                      <a16:colId xmlns:a16="http://schemas.microsoft.com/office/drawing/2014/main" val="657430480"/>
                    </a:ext>
                  </a:extLst>
                </a:gridCol>
                <a:gridCol w="926577">
                  <a:extLst>
                    <a:ext uri="{9D8B030D-6E8A-4147-A177-3AD203B41FA5}">
                      <a16:colId xmlns:a16="http://schemas.microsoft.com/office/drawing/2014/main" val="3325342550"/>
                    </a:ext>
                  </a:extLst>
                </a:gridCol>
              </a:tblGrid>
              <a:tr h="230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#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9226" marR="29226" marT="29226" marB="29226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Review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29226" marB="29226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Your verdict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29226" marB="29226"/>
                </a:tc>
                <a:extLst>
                  <a:ext uri="{0D108BD9-81ED-4DB2-BD59-A6C34878D82A}">
                    <a16:rowId xmlns:a16="http://schemas.microsoft.com/office/drawing/2014/main" val="2705229832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A brilliant film. The acting was superb and I loved every minute.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b="0" dirty="0">
                          <a:effectLst/>
                        </a:rPr>
                        <a:t>P</a:t>
                      </a:r>
                      <a:endParaRPr lang="en-GB" sz="105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3295893874"/>
                  </a:ext>
                </a:extLst>
              </a:tr>
              <a:tr h="420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2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Funny, clever and beautifully shot. One of the best I've seen this year.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P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2474417628"/>
                  </a:ext>
                </a:extLst>
              </a:tr>
              <a:tr h="420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3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A boring, lazy film. The plot was terrible and the acting was awful.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702761989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4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effectLst/>
                        </a:rPr>
                        <a:t>Dull and predictable. I was bored the whole way through.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2176894966"/>
                  </a:ext>
                </a:extLst>
              </a:tr>
              <a:tr h="420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5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Wonderful performances and a heartwarming story. Highly recommend.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P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2958565698"/>
                  </a:ext>
                </a:extLst>
              </a:tr>
              <a:tr h="4209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6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A complete waste of time. Weak story, poor acting, dreadful ending.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3542800910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7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Gripping from start to finish. The ending was perfect.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P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1096524644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effectLst/>
                        </a:rPr>
                        <a:t>8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effectLst/>
                        </a:rPr>
                        <a:t>Disappointing and forgettable. Nothing about it worked.</a:t>
                      </a:r>
                      <a:endParaRPr lang="en-GB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effectLst/>
                        </a:rPr>
                        <a:t>N</a:t>
                      </a:r>
                      <a:endParaRPr lang="en-GB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/>
                </a:tc>
                <a:extLst>
                  <a:ext uri="{0D108BD9-81ED-4DB2-BD59-A6C34878D82A}">
                    <a16:rowId xmlns:a16="http://schemas.microsoft.com/office/drawing/2014/main" val="903255480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Great acting, but the story was a mess.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5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</a:t>
                      </a:r>
                    </a:p>
                  </a:txBody>
                  <a:tcPr marL="48709" marR="48709" marT="38968" marB="38968" anchor="ctr">
                    <a:solidFill>
                      <a:srgbClr val="6824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19877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GB" sz="105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The first half was brilliant; the second half fell apart.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P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>
                    <a:solidFill>
                      <a:srgbClr val="6824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993517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lang="en-GB" sz="105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This was not good at all.   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P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>
                    <a:solidFill>
                      <a:srgbClr val="6824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12201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endParaRPr lang="en-GB" sz="105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Not bad, actually — I enjoyed it more than I expected.   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N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>
                    <a:solidFill>
                      <a:srgbClr val="6824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199920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chemeClr val="bg1"/>
                          </a:solidFill>
                          <a:effectLst/>
                        </a:rPr>
                        <a:t>13</a:t>
                      </a:r>
                      <a:endParaRPr lang="en-GB" sz="105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Oh great, another two hours I'll never get back.   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P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>
                    <a:solidFill>
                      <a:srgbClr val="6824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111443"/>
                  </a:ext>
                </a:extLst>
              </a:tr>
              <a:tr h="250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>
                          <a:solidFill>
                            <a:schemeClr val="bg1"/>
                          </a:solidFill>
                          <a:effectLst/>
                        </a:rPr>
                        <a:t>14</a:t>
                      </a:r>
                      <a:endParaRPr lang="en-GB" sz="105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968" marR="38968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Far from boring.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193" marR="58451" marT="38968" marB="38968" anchor="ctr">
                    <a:solidFill>
                      <a:srgbClr val="68246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100" dirty="0">
                          <a:solidFill>
                            <a:schemeClr val="bg1"/>
                          </a:solidFill>
                          <a:effectLst/>
                        </a:rPr>
                        <a:t>N</a:t>
                      </a:r>
                      <a:endParaRPr lang="en-GB" sz="105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8709" marR="48709" marT="38968" marB="38968" anchor="ctr">
                    <a:solidFill>
                      <a:srgbClr val="6824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94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786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38588-C672-FBDD-6171-2DB4CD67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Bag of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C6F16-A977-383D-7CFA-152428BE5C2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Not clear cut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What happens when counts are equal?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Words can have multiple meanings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i="1" dirty="0"/>
              <a:t>Context </a:t>
            </a:r>
            <a:r>
              <a:rPr lang="en-GB" dirty="0"/>
              <a:t>matters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endParaRPr lang="en-GB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Not sustainable for every word in a language!</a:t>
            </a:r>
          </a:p>
        </p:txBody>
      </p:sp>
    </p:spTree>
    <p:extLst>
      <p:ext uri="{BB962C8B-B14F-4D97-AF65-F5344CB8AC3E}">
        <p14:creationId xmlns:p14="http://schemas.microsoft.com/office/powerpoint/2010/main" val="4055900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697B-817F-634A-AC54-E16E157E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03CA1-8CB1-AD68-E744-DA44169C427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Can we map words to a co-ordinate, so similar words are near each other?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4227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A3B8-C15B-4BFB-8F03-E2D3BC47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D1EB2-0707-A0DD-D526-BA004AF12B0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2"/>
              </a:rPr>
              <a:t>https://projector.tensorflow.org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TensorFlow Embedding Projector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Look at how words are connected.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Search a word: what are its nearest neighbours?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Can you find a word where its neighbours surprise you?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Where does </a:t>
            </a:r>
            <a:r>
              <a:rPr lang="en-GB" b="1" dirty="0"/>
              <a:t>apple</a:t>
            </a:r>
            <a:r>
              <a:rPr lang="en-GB" dirty="0"/>
              <a:t> sit?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7428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D3DB-ACAB-1A9B-7F00-4F0319A1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Embeddings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D7056-58CD-C77A-9B59-BDB3C8A0F05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University – </a:t>
            </a:r>
            <a:r>
              <a:rPr lang="en-GB" dirty="0"/>
              <a:t>nearest neighbours are college, school. But also places, like Harvard and Cambridge – more American places than elsewhere.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Good </a:t>
            </a:r>
            <a:r>
              <a:rPr lang="en-GB" dirty="0"/>
              <a:t>– nearest neighbour is </a:t>
            </a:r>
            <a:r>
              <a:rPr lang="en-GB" b="1" dirty="0"/>
              <a:t>bad! </a:t>
            </a:r>
            <a:r>
              <a:rPr lang="en-GB" dirty="0"/>
              <a:t>Does this make sense?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Apple </a:t>
            </a:r>
            <a:r>
              <a:rPr lang="en-GB" dirty="0"/>
              <a:t>– all of its nearest neighbours are tech-related, with no fruit at all!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41033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36B4-62B8-8AAD-87EA-98ABEEB7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Embeddings: How are they generated?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56964-18F5-3638-BD8C-B2D53884CE3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want an automated way to generate co-ordinates, given a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Just like with Bag of Words, we need </a:t>
            </a:r>
            <a:r>
              <a:rPr lang="en-GB" b="1" dirty="0"/>
              <a:t>training data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But, what is the ground truth? How do we know where we should map a word to?</a:t>
            </a:r>
          </a:p>
        </p:txBody>
      </p:sp>
    </p:spTree>
    <p:extLst>
      <p:ext uri="{BB962C8B-B14F-4D97-AF65-F5344CB8AC3E}">
        <p14:creationId xmlns:p14="http://schemas.microsoft.com/office/powerpoint/2010/main" val="1850913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910C1-5D4C-7D47-F6DC-DCEE7A80B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EAC2-28C1-C9A8-94D5-82EDF45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Embeddings: How are they generated?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3AA95-CA37-E709-C09B-156D1F8D7CB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want an automated way to generate co-ordinates, given a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Just like with Bag of Words, we need </a:t>
            </a:r>
            <a:r>
              <a:rPr lang="en-GB" b="1" dirty="0"/>
              <a:t>training data</a:t>
            </a:r>
            <a:r>
              <a:rPr lang="en-GB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But, what is the ground truth? How do we know where we should map a word to?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Answer: </a:t>
            </a:r>
            <a:r>
              <a:rPr lang="en-GB" dirty="0"/>
              <a:t>use sentence structure, and let the computer decide!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006759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5596-8D40-8E70-AFC5-84308C19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Embeddings: How are they generated?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B725B-6AE3-68A3-DCE9-030034C91D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59" y="819509"/>
            <a:ext cx="5702678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want each word to be mapped to a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Should ideally capture the word’s meaning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Definitions, context,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2D1B40-666E-23A6-2A77-B01CDDB99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41" y="1906689"/>
            <a:ext cx="7772400" cy="2716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A6B169-EA57-B29D-C0D1-A538C54FB968}"/>
              </a:ext>
            </a:extLst>
          </p:cNvPr>
          <p:cNvSpPr txBox="1"/>
          <p:nvPr/>
        </p:nvSpPr>
        <p:spPr>
          <a:xfrm>
            <a:off x="5057030" y="4866501"/>
            <a:ext cx="637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Image source: </a:t>
            </a:r>
            <a:r>
              <a:rPr lang="en-GB" sz="1200" dirty="0"/>
              <a:t>https://</a:t>
            </a:r>
            <a:r>
              <a:rPr lang="en-GB" sz="1200" dirty="0" err="1"/>
              <a:t>jalammar.github.io</a:t>
            </a:r>
            <a:r>
              <a:rPr lang="en-GB" sz="1200" dirty="0"/>
              <a:t>/illustrated-word2vec/</a:t>
            </a:r>
          </a:p>
        </p:txBody>
      </p:sp>
    </p:spTree>
    <p:extLst>
      <p:ext uri="{BB962C8B-B14F-4D97-AF65-F5344CB8AC3E}">
        <p14:creationId xmlns:p14="http://schemas.microsoft.com/office/powerpoint/2010/main" val="2671152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C90C2-BC5F-03FB-FE53-926E40EBC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68FB2-1E69-A195-A94E-4E1C2209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Embeddings: How are they generated?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E94E1-9E13-2366-A222-DC3E9098F925}"/>
              </a:ext>
            </a:extLst>
          </p:cNvPr>
          <p:cNvSpPr txBox="1"/>
          <p:nvPr/>
        </p:nvSpPr>
        <p:spPr>
          <a:xfrm>
            <a:off x="5057030" y="4866501"/>
            <a:ext cx="637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Image source: </a:t>
            </a:r>
            <a:r>
              <a:rPr lang="en-GB" sz="1200" dirty="0"/>
              <a:t>https://</a:t>
            </a:r>
            <a:r>
              <a:rPr lang="en-GB" sz="1200" dirty="0" err="1"/>
              <a:t>jalammar.github.io</a:t>
            </a:r>
            <a:r>
              <a:rPr lang="en-GB" sz="1200" dirty="0"/>
              <a:t>/illustrated-word2vec/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76B12A-CF00-F574-B072-2231059C69C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296911" y="961570"/>
            <a:ext cx="6550177" cy="344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5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5551D-D355-A736-6677-073986B5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6CEB-7F55-93EA-C8B9-A7ED43DAB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Embeddings: How are they generated?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760CB-E1E5-83C7-4DF2-7CF31AC85902}"/>
              </a:ext>
            </a:extLst>
          </p:cNvPr>
          <p:cNvSpPr txBox="1"/>
          <p:nvPr/>
        </p:nvSpPr>
        <p:spPr>
          <a:xfrm>
            <a:off x="5057030" y="4866501"/>
            <a:ext cx="637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Image source: </a:t>
            </a:r>
            <a:r>
              <a:rPr lang="en-GB" sz="1200" dirty="0"/>
              <a:t>https://</a:t>
            </a:r>
            <a:r>
              <a:rPr lang="en-GB" sz="1200" dirty="0" err="1"/>
              <a:t>jalammar.github.io</a:t>
            </a:r>
            <a:r>
              <a:rPr lang="en-GB" sz="1200" dirty="0"/>
              <a:t>/illustrated-word2vec/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D42426-FE63-9B51-9750-2181DB8CEAE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812082" y="793573"/>
            <a:ext cx="7519836" cy="383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69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AC4CD-7CE0-B30E-3210-3410B8BC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D15CE-2F04-9C4A-1712-2CEECAB7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Embeddings: How are they generated?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45CD6-236E-820B-1E23-E349AA72111C}"/>
              </a:ext>
            </a:extLst>
          </p:cNvPr>
          <p:cNvSpPr txBox="1"/>
          <p:nvPr/>
        </p:nvSpPr>
        <p:spPr>
          <a:xfrm>
            <a:off x="3105766" y="4866016"/>
            <a:ext cx="6372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Image source: </a:t>
            </a:r>
            <a:r>
              <a:rPr lang="en-GB" sz="1200" dirty="0"/>
              <a:t>http://</a:t>
            </a:r>
            <a:r>
              <a:rPr lang="en-GB" sz="1200" dirty="0" err="1"/>
              <a:t>mccormickml.com</a:t>
            </a:r>
            <a:r>
              <a:rPr lang="en-GB" sz="1200" dirty="0"/>
              <a:t>/2016/04/19/word2vec-tutorial-the-skip-gram-model/</a:t>
            </a:r>
          </a:p>
        </p:txBody>
      </p:sp>
      <p:pic>
        <p:nvPicPr>
          <p:cNvPr id="5122" name="Picture 2" descr="Word2Vec Tutorial - The Skip-Gram Model · Chris McCormick">
            <a:extLst>
              <a:ext uri="{FF2B5EF4-FFF2-40B4-BE49-F238E27FC236}">
                <a16:creationId xmlns:a16="http://schemas.microsoft.com/office/drawing/2014/main" id="{5009965E-2AA1-22E9-80DD-46DDFAE0E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339" y="930727"/>
            <a:ext cx="5999321" cy="374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7C3B2E8-3232-3CD0-36BD-290CE64399E0}"/>
              </a:ext>
            </a:extLst>
          </p:cNvPr>
          <p:cNvSpPr/>
          <p:nvPr/>
        </p:nvSpPr>
        <p:spPr>
          <a:xfrm>
            <a:off x="1477736" y="2804430"/>
            <a:ext cx="1036864" cy="4286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6FD468-8322-500D-2888-745A3E5D332D}"/>
              </a:ext>
            </a:extLst>
          </p:cNvPr>
          <p:cNvSpPr/>
          <p:nvPr/>
        </p:nvSpPr>
        <p:spPr>
          <a:xfrm>
            <a:off x="2136322" y="1359353"/>
            <a:ext cx="1036864" cy="4286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AF8548-3211-01D3-C364-73DC045F23D8}"/>
              </a:ext>
            </a:extLst>
          </p:cNvPr>
          <p:cNvSpPr/>
          <p:nvPr/>
        </p:nvSpPr>
        <p:spPr>
          <a:xfrm>
            <a:off x="2227489" y="1540954"/>
            <a:ext cx="574221" cy="26718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AF8380-BEC1-470C-FA02-54E026F5960A}"/>
              </a:ext>
            </a:extLst>
          </p:cNvPr>
          <p:cNvSpPr/>
          <p:nvPr/>
        </p:nvSpPr>
        <p:spPr>
          <a:xfrm>
            <a:off x="2068902" y="3671986"/>
            <a:ext cx="1036864" cy="4286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0017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FEAE-4C0A-845F-9DA1-02E811FA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Trying the “meaning”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B765-EBF3-2774-B109-56A2FCECE1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59" y="845146"/>
            <a:ext cx="6686828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Open the first notebook and </a:t>
            </a:r>
            <a:r>
              <a:rPr lang="en-GB" dirty="0"/>
              <a:t>run through it – follow the instructions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dirty="0"/>
              <a:t>Does the meaning model do better, worse, or the same?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Can you find reviews where the two models disagree?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Change one word at a time – how does the verdict change?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Try editing the example lists – can you make it better?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E971B-BA10-F3B9-99BE-1BEABB27DC0D}"/>
              </a:ext>
            </a:extLst>
          </p:cNvPr>
          <p:cNvSpPr txBox="1"/>
          <p:nvPr/>
        </p:nvSpPr>
        <p:spPr>
          <a:xfrm>
            <a:off x="802939" y="711670"/>
            <a:ext cx="5290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https://github.com/mattswatson/step-nlp-workshop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54933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2AB4-A083-166C-E438-AA9E4A39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the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CB8A3-7C60-8FE6-28D0-0835FBF7E2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58" y="706109"/>
            <a:ext cx="7488771" cy="2914650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https://github.com/mattswatson/step-nlp-workshop</a:t>
            </a:r>
            <a:endParaRPr lang="en-GB" dirty="0"/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Click the green Code button</a:t>
            </a:r>
          </a:p>
          <a:p>
            <a:pPr marL="573750" lvl="1" indent="-285750">
              <a:buFontTx/>
              <a:buChar char="-"/>
            </a:pPr>
            <a:r>
              <a:rPr lang="en-GB" dirty="0"/>
              <a:t>Download ZIP</a:t>
            </a:r>
          </a:p>
          <a:p>
            <a:pPr marL="573750" lvl="1" indent="-285750">
              <a:buFontTx/>
              <a:buChar char="-"/>
            </a:pPr>
            <a:r>
              <a:rPr lang="en-GB" dirty="0"/>
              <a:t>Extract the ZIP file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b="1" dirty="0"/>
              <a:t>Linux: </a:t>
            </a:r>
            <a:r>
              <a:rPr lang="en-GB" dirty="0"/>
              <a:t>Double click to open in </a:t>
            </a:r>
            <a:r>
              <a:rPr lang="en-GB" dirty="0" err="1"/>
              <a:t>Jupyter</a:t>
            </a:r>
            <a:r>
              <a:rPr lang="en-GB" dirty="0"/>
              <a:t> notebook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Windows: </a:t>
            </a:r>
            <a:r>
              <a:rPr lang="en-GB" dirty="0" err="1"/>
              <a:t>AppsAnywhere</a:t>
            </a:r>
            <a:r>
              <a:rPr lang="en-GB" dirty="0"/>
              <a:t>, open both Anaconda and Visual Studio Code</a:t>
            </a:r>
          </a:p>
          <a:p>
            <a:pPr marL="573750" lvl="1" indent="-285750">
              <a:buFontTx/>
              <a:buChar char="-"/>
            </a:pPr>
            <a:r>
              <a:rPr lang="en-GB" dirty="0"/>
              <a:t>Open the folder in Visual Studio Code</a:t>
            </a:r>
          </a:p>
          <a:p>
            <a:pPr lvl="1" indent="0">
              <a:buNone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pPr marL="573750" lvl="1" indent="-285750">
              <a:buFontTx/>
              <a:buChar char="-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9757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F359-C8A8-E77E-5477-017F6AADE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D34C-8BA5-AD06-58E1-87BA01C047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Specific type of neural network specifically designed for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Uses </a:t>
            </a:r>
            <a:r>
              <a:rPr lang="en-GB" b="1" dirty="0"/>
              <a:t>attention</a:t>
            </a:r>
            <a:r>
              <a:rPr lang="en-GB" dirty="0"/>
              <a:t>: which other parts of the sentence does a word refer to?</a:t>
            </a:r>
          </a:p>
        </p:txBody>
      </p:sp>
    </p:spTree>
    <p:extLst>
      <p:ext uri="{BB962C8B-B14F-4D97-AF65-F5344CB8AC3E}">
        <p14:creationId xmlns:p14="http://schemas.microsoft.com/office/powerpoint/2010/main" val="41135609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DE00-66C9-E27A-C3E5-D7D40F06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BFD2A4E-834D-E051-1A42-81115F5BC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59" y="1043796"/>
            <a:ext cx="3073898" cy="343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3AD13B1-407B-FC8D-136B-5BEB0126D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045" y="1043796"/>
            <a:ext cx="3328609" cy="372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3917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B92F8-E5DA-9FC7-AA45-3F446B29B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18F07-B06B-9D3B-E773-B785167B56B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 part of the training process, transformers use attention to create their own word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These can then be used for a variety of tasks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Classification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Next word prediction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Named entity recognition</a:t>
            </a:r>
          </a:p>
        </p:txBody>
      </p:sp>
    </p:spTree>
    <p:extLst>
      <p:ext uri="{BB962C8B-B14F-4D97-AF65-F5344CB8AC3E}">
        <p14:creationId xmlns:p14="http://schemas.microsoft.com/office/powerpoint/2010/main" val="27274978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E4FF-7A00-66C9-2441-E22FC046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have transformers become so popular?</a:t>
            </a:r>
          </a:p>
        </p:txBody>
      </p:sp>
      <p:pic>
        <p:nvPicPr>
          <p:cNvPr id="4" name="Google Shape;151;p24">
            <a:extLst>
              <a:ext uri="{FF2B5EF4-FFF2-40B4-BE49-F238E27FC236}">
                <a16:creationId xmlns:a16="http://schemas.microsoft.com/office/drawing/2014/main" id="{CA79E9CB-A694-0324-E4FD-76BEFC202A4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2900" y="1735525"/>
            <a:ext cx="8258175" cy="2352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23311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9257-E6E8-427C-1AED-AE8BFB40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DEBC5-DC00-D9F7-36A0-5A5A60C81AB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saw a very simple version of 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is only one way we can approach this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big benefit of transformers and LLMs is we can treat many tasks as next word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11475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63858-FFEF-2BF3-8D42-64FF535E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Task: build a next-word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37E7-E29C-1D09-C89D-3BDBE11B495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59" y="862398"/>
            <a:ext cx="5702678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Open the second notebook – you’ll turn text into numbers, then build a model that writes new text.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Paste in your own text (lyrics, a story…) and see how the model’s “voice”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/>
              <a:t>Change how many previous words it looks at – what makes it more coherent, or funnier?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35329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E920A-7334-62A3-6BA9-A179B71A4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D05D9-C7AB-1F99-C7A1-B3AD1BBB8C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1553" y="1224708"/>
            <a:ext cx="6546998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Transformers are the basis for today’s large language models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T </a:t>
            </a:r>
            <a:r>
              <a:rPr lang="en-GB" dirty="0"/>
              <a:t>in GPT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LLMs have been trained on (very) large text corpora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This makes them very good at a lot of tasks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But often not without good prompting!</a:t>
            </a:r>
          </a:p>
        </p:txBody>
      </p:sp>
    </p:spTree>
    <p:extLst>
      <p:ext uri="{BB962C8B-B14F-4D97-AF65-F5344CB8AC3E}">
        <p14:creationId xmlns:p14="http://schemas.microsoft.com/office/powerpoint/2010/main" val="3063511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BB84-560E-16B9-EAEA-5F29F7D8F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Training</a:t>
            </a:r>
          </a:p>
        </p:txBody>
      </p:sp>
      <p:sp>
        <p:nvSpPr>
          <p:cNvPr id="4" name="Google Shape;177;p28">
            <a:extLst>
              <a:ext uri="{FF2B5EF4-FFF2-40B4-BE49-F238E27FC236}">
                <a16:creationId xmlns:a16="http://schemas.microsoft.com/office/drawing/2014/main" id="{5FE0C0FE-CE7B-9D00-C749-235311A7B38A}"/>
              </a:ext>
            </a:extLst>
          </p:cNvPr>
          <p:cNvSpPr txBox="1"/>
          <p:nvPr/>
        </p:nvSpPr>
        <p:spPr>
          <a:xfrm>
            <a:off x="778450" y="1469175"/>
            <a:ext cx="7203300" cy="1437927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chemeClr val="lt1"/>
                </a:solidFill>
              </a:rPr>
              <a:t>Here is some text: “I thought the film was brilliant!”</a:t>
            </a:r>
          </a:p>
          <a:p>
            <a:pPr lvl="0"/>
            <a:endParaRPr lang="en-GB" dirty="0">
              <a:solidFill>
                <a:schemeClr val="lt1"/>
              </a:solidFill>
            </a:endParaRPr>
          </a:p>
          <a:p>
            <a:pPr lvl="0"/>
            <a:r>
              <a:rPr lang="en-GB" dirty="0">
                <a:solidFill>
                  <a:schemeClr val="lt1"/>
                </a:solidFill>
              </a:rPr>
              <a:t>Is this a positive or negative review? Answer with one word only: </a:t>
            </a:r>
          </a:p>
        </p:txBody>
      </p:sp>
      <p:sp>
        <p:nvSpPr>
          <p:cNvPr id="5" name="Google Shape;178;p28">
            <a:extLst>
              <a:ext uri="{FF2B5EF4-FFF2-40B4-BE49-F238E27FC236}">
                <a16:creationId xmlns:a16="http://schemas.microsoft.com/office/drawing/2014/main" id="{5A6A3E16-2D27-F3C6-D88B-8A9F0EF95E01}"/>
              </a:ext>
            </a:extLst>
          </p:cNvPr>
          <p:cNvSpPr txBox="1"/>
          <p:nvPr/>
        </p:nvSpPr>
        <p:spPr>
          <a:xfrm>
            <a:off x="768900" y="3570725"/>
            <a:ext cx="7203300" cy="5727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positive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" name="Google Shape;179;p28">
            <a:extLst>
              <a:ext uri="{FF2B5EF4-FFF2-40B4-BE49-F238E27FC236}">
                <a16:creationId xmlns:a16="http://schemas.microsoft.com/office/drawing/2014/main" id="{AEB3B6E7-559B-FDDA-450B-0FE572F8E5BC}"/>
              </a:ext>
            </a:extLst>
          </p:cNvPr>
          <p:cNvSpPr txBox="1">
            <a:spLocks/>
          </p:cNvSpPr>
          <p:nvPr/>
        </p:nvSpPr>
        <p:spPr>
          <a:xfrm>
            <a:off x="768900" y="1000075"/>
            <a:ext cx="159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/>
              <a:buNone/>
            </a:pPr>
            <a:r>
              <a:rPr lang="en-GB" dirty="0"/>
              <a:t>Input:</a:t>
            </a:r>
          </a:p>
        </p:txBody>
      </p:sp>
      <p:sp>
        <p:nvSpPr>
          <p:cNvPr id="7" name="Google Shape;179;p28">
            <a:extLst>
              <a:ext uri="{FF2B5EF4-FFF2-40B4-BE49-F238E27FC236}">
                <a16:creationId xmlns:a16="http://schemas.microsoft.com/office/drawing/2014/main" id="{5BAF3985-0FA6-C8A0-5969-6B8677521B95}"/>
              </a:ext>
            </a:extLst>
          </p:cNvPr>
          <p:cNvSpPr txBox="1">
            <a:spLocks/>
          </p:cNvSpPr>
          <p:nvPr/>
        </p:nvSpPr>
        <p:spPr>
          <a:xfrm>
            <a:off x="778450" y="3132684"/>
            <a:ext cx="159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/>
              <a:buNone/>
            </a:pPr>
            <a:r>
              <a:rPr lang="en-GB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9202646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A7FCA-CE07-21A1-39AF-4DD17539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3557-5614-6987-912E-06EE56E8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Zero Shot Prompting</a:t>
            </a:r>
          </a:p>
        </p:txBody>
      </p:sp>
      <p:sp>
        <p:nvSpPr>
          <p:cNvPr id="6" name="Google Shape;177;p28">
            <a:extLst>
              <a:ext uri="{FF2B5EF4-FFF2-40B4-BE49-F238E27FC236}">
                <a16:creationId xmlns:a16="http://schemas.microsoft.com/office/drawing/2014/main" id="{796F7D47-A77E-9714-9AE3-2B2B65A4A3F7}"/>
              </a:ext>
            </a:extLst>
          </p:cNvPr>
          <p:cNvSpPr txBox="1"/>
          <p:nvPr/>
        </p:nvSpPr>
        <p:spPr>
          <a:xfrm>
            <a:off x="778450" y="1469175"/>
            <a:ext cx="7203300" cy="1437927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chemeClr val="lt1"/>
                </a:solidFill>
              </a:rPr>
              <a:t>Classify the text as positive or negative.</a:t>
            </a:r>
          </a:p>
          <a:p>
            <a:pPr lvl="0"/>
            <a:endParaRPr lang="en-GB" dirty="0">
              <a:solidFill>
                <a:schemeClr val="lt1"/>
              </a:solidFill>
            </a:endParaRPr>
          </a:p>
          <a:p>
            <a:pPr lvl="0"/>
            <a:r>
              <a:rPr lang="en-GB" dirty="0">
                <a:solidFill>
                  <a:schemeClr val="lt1"/>
                </a:solidFill>
              </a:rPr>
              <a:t>Text: I think the STEP summer school is amazing.</a:t>
            </a:r>
          </a:p>
          <a:p>
            <a:pPr lvl="0"/>
            <a:r>
              <a:rPr lang="en-GB" dirty="0">
                <a:solidFill>
                  <a:schemeClr val="lt1"/>
                </a:solidFill>
              </a:rPr>
              <a:t>Sentiment:</a:t>
            </a:r>
          </a:p>
        </p:txBody>
      </p:sp>
      <p:sp>
        <p:nvSpPr>
          <p:cNvPr id="7" name="Google Shape;178;p28">
            <a:extLst>
              <a:ext uri="{FF2B5EF4-FFF2-40B4-BE49-F238E27FC236}">
                <a16:creationId xmlns:a16="http://schemas.microsoft.com/office/drawing/2014/main" id="{25E78D02-3FA2-7FEC-B9B1-63E2657AB050}"/>
              </a:ext>
            </a:extLst>
          </p:cNvPr>
          <p:cNvSpPr txBox="1"/>
          <p:nvPr/>
        </p:nvSpPr>
        <p:spPr>
          <a:xfrm>
            <a:off x="768900" y="3570725"/>
            <a:ext cx="7203300" cy="5727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positive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" name="Google Shape;179;p28">
            <a:extLst>
              <a:ext uri="{FF2B5EF4-FFF2-40B4-BE49-F238E27FC236}">
                <a16:creationId xmlns:a16="http://schemas.microsoft.com/office/drawing/2014/main" id="{765DD8AF-FFF2-BC51-9E48-C1690964A0C0}"/>
              </a:ext>
            </a:extLst>
          </p:cNvPr>
          <p:cNvSpPr txBox="1">
            <a:spLocks/>
          </p:cNvSpPr>
          <p:nvPr/>
        </p:nvSpPr>
        <p:spPr>
          <a:xfrm>
            <a:off x="768900" y="1000075"/>
            <a:ext cx="159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/>
              <a:buNone/>
            </a:pPr>
            <a:r>
              <a:rPr lang="en-GB" dirty="0"/>
              <a:t>Prompt:</a:t>
            </a:r>
          </a:p>
        </p:txBody>
      </p:sp>
      <p:sp>
        <p:nvSpPr>
          <p:cNvPr id="9" name="Google Shape;179;p28">
            <a:extLst>
              <a:ext uri="{FF2B5EF4-FFF2-40B4-BE49-F238E27FC236}">
                <a16:creationId xmlns:a16="http://schemas.microsoft.com/office/drawing/2014/main" id="{E4363967-E723-2DD3-9568-433AA2F2E581}"/>
              </a:ext>
            </a:extLst>
          </p:cNvPr>
          <p:cNvSpPr txBox="1">
            <a:spLocks/>
          </p:cNvSpPr>
          <p:nvPr/>
        </p:nvSpPr>
        <p:spPr>
          <a:xfrm>
            <a:off x="778450" y="3067881"/>
            <a:ext cx="159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/>
              <a:buNone/>
            </a:pPr>
            <a:r>
              <a:rPr lang="en-GB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2296418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039B-BDC8-56AB-09FB-819E50C25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Few Shot Prompting</a:t>
            </a:r>
          </a:p>
        </p:txBody>
      </p:sp>
      <p:sp>
        <p:nvSpPr>
          <p:cNvPr id="6" name="Google Shape;177;p28">
            <a:extLst>
              <a:ext uri="{FF2B5EF4-FFF2-40B4-BE49-F238E27FC236}">
                <a16:creationId xmlns:a16="http://schemas.microsoft.com/office/drawing/2014/main" id="{1DF742BC-BFB0-B9AF-CE6C-8D2C28A03F72}"/>
              </a:ext>
            </a:extLst>
          </p:cNvPr>
          <p:cNvSpPr txBox="1"/>
          <p:nvPr/>
        </p:nvSpPr>
        <p:spPr>
          <a:xfrm>
            <a:off x="778450" y="1469175"/>
            <a:ext cx="7203300" cy="2068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</a:rPr>
              <a:t>Classify the text as positive or negative.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</a:rPr>
              <a:t>Text: I hate Google </a:t>
            </a:r>
            <a:r>
              <a:rPr lang="en-GB" sz="1800" dirty="0" err="1">
                <a:solidFill>
                  <a:schemeClr val="lt1"/>
                </a:solidFill>
              </a:rPr>
              <a:t>Colab</a:t>
            </a:r>
            <a:r>
              <a:rPr lang="en-GB" sz="1800" dirty="0">
                <a:solidFill>
                  <a:schemeClr val="lt1"/>
                </a:solidFill>
              </a:rPr>
              <a:t> because it doesn’t let me use GPUs.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</a:rPr>
              <a:t>Sentiment: negative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</a:rPr>
              <a:t>Text: I think STEP summer school is amazing.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</a:rPr>
              <a:t>Sentiment: </a:t>
            </a:r>
            <a:endParaRPr sz="1800" dirty="0">
              <a:solidFill>
                <a:schemeClr val="lt1"/>
              </a:solidFill>
            </a:endParaRPr>
          </a:p>
        </p:txBody>
      </p:sp>
      <p:sp>
        <p:nvSpPr>
          <p:cNvPr id="7" name="Google Shape;178;p28">
            <a:extLst>
              <a:ext uri="{FF2B5EF4-FFF2-40B4-BE49-F238E27FC236}">
                <a16:creationId xmlns:a16="http://schemas.microsoft.com/office/drawing/2014/main" id="{33F56E89-EBB0-A7EF-A036-DF8EEE2BED5E}"/>
              </a:ext>
            </a:extLst>
          </p:cNvPr>
          <p:cNvSpPr txBox="1"/>
          <p:nvPr/>
        </p:nvSpPr>
        <p:spPr>
          <a:xfrm>
            <a:off x="778450" y="4033461"/>
            <a:ext cx="7203300" cy="5727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positive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" name="Google Shape;179;p28">
            <a:extLst>
              <a:ext uri="{FF2B5EF4-FFF2-40B4-BE49-F238E27FC236}">
                <a16:creationId xmlns:a16="http://schemas.microsoft.com/office/drawing/2014/main" id="{6661E07A-A751-F45B-A5A2-D5698FE2D765}"/>
              </a:ext>
            </a:extLst>
          </p:cNvPr>
          <p:cNvSpPr txBox="1">
            <a:spLocks/>
          </p:cNvSpPr>
          <p:nvPr/>
        </p:nvSpPr>
        <p:spPr>
          <a:xfrm>
            <a:off x="768900" y="1000075"/>
            <a:ext cx="159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/>
              <a:buNone/>
            </a:pPr>
            <a:r>
              <a:rPr lang="en-GB" dirty="0"/>
              <a:t>Prompt:</a:t>
            </a:r>
          </a:p>
        </p:txBody>
      </p:sp>
      <p:sp>
        <p:nvSpPr>
          <p:cNvPr id="9" name="Google Shape;179;p28">
            <a:extLst>
              <a:ext uri="{FF2B5EF4-FFF2-40B4-BE49-F238E27FC236}">
                <a16:creationId xmlns:a16="http://schemas.microsoft.com/office/drawing/2014/main" id="{EFBE72E0-785F-7469-722B-A8BF454EECDE}"/>
              </a:ext>
            </a:extLst>
          </p:cNvPr>
          <p:cNvSpPr txBox="1">
            <a:spLocks/>
          </p:cNvSpPr>
          <p:nvPr/>
        </p:nvSpPr>
        <p:spPr>
          <a:xfrm>
            <a:off x="778450" y="3585466"/>
            <a:ext cx="1598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/>
              <a:buNone/>
            </a:pPr>
            <a:r>
              <a:rPr lang="en-GB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640143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1166-B186-209F-AA7E-9AF28FCE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Prompting Guides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181B-549D-1980-7D36-A896CDBBA7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LLMs typically perform better with structured 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For new tasks, or with smaller models, few shot prompting is usually best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2"/>
              </a:rPr>
              <a:t>https://</a:t>
            </a:r>
            <a:r>
              <a:rPr lang="en-GB" dirty="0" err="1">
                <a:hlinkClick r:id="rId2"/>
              </a:rPr>
              <a:t>www.promptingguide.ai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4759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1166-B186-209F-AA7E-9AF28FCE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Optional: try prompting in the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181B-549D-1980-7D36-A896CDBBA7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3434" y="908825"/>
            <a:ext cx="5702678" cy="29146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there’s time, open any free chatbot in a browser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en-GB" dirty="0"/>
              <a:t>Claude, ChatGPT, Copilot</a:t>
            </a:r>
          </a:p>
          <a:p>
            <a:pPr lvl="1" indent="0">
              <a:buNone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Try the zero-shot and few-shot prompts from the last slides, for the review classification task. Does the format of the prompt change the answer?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LLMs usually do better with structured prompts – for tricky tasks, few-shot is often best.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hlinkClick r:id="rId2"/>
              </a:rPr>
              <a:t>promptingguide.ai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454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f6d2de-cfb7-466c-825b-051a8e3c8b7d" xsi:nil="true"/>
    <lcf76f155ced4ddcb4097134ff3c332f xmlns="f07a9d8d-ed96-4a98-86af-776441872cb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255A2D26DBCF40B9CE31933C067CE6" ma:contentTypeVersion="13" ma:contentTypeDescription="Create a new document." ma:contentTypeScope="" ma:versionID="5cf6235e31cbd45af302fc5c83f1d6f5">
  <xsd:schema xmlns:xsd="http://www.w3.org/2001/XMLSchema" xmlns:xs="http://www.w3.org/2001/XMLSchema" xmlns:p="http://schemas.microsoft.com/office/2006/metadata/properties" xmlns:ns2="f07a9d8d-ed96-4a98-86af-776441872cb7" xmlns:ns3="eb985106-e679-49f3-96ac-a9b04172565e" xmlns:ns4="3bf6d2de-cfb7-466c-825b-051a8e3c8b7d" targetNamespace="http://schemas.microsoft.com/office/2006/metadata/properties" ma:root="true" ma:fieldsID="cac24fe824afecdb95c81f233c6f8203" ns2:_="" ns3:_="" ns4:_="">
    <xsd:import namespace="f07a9d8d-ed96-4a98-86af-776441872cb7"/>
    <xsd:import namespace="eb985106-e679-49f3-96ac-a9b04172565e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7a9d8d-ed96-4a98-86af-776441872c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985106-e679-49f3-96ac-a9b04172565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134d613-15dd-4f68-8e3f-a19c4156aee6}" ma:internalName="TaxCatchAll" ma:showField="CatchAllData" ma:web="eb985106-e679-49f3-96ac-a9b0417256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2A46E8-E1F1-4337-B47E-59BACB0570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3F50C3-625F-4387-85F6-F8762EB49D72}">
  <ds:schemaRefs>
    <ds:schemaRef ds:uri="http://schemas.openxmlformats.org/package/2006/metadata/core-properties"/>
    <ds:schemaRef ds:uri="f07a9d8d-ed96-4a98-86af-776441872cb7"/>
    <ds:schemaRef ds:uri="http://purl.org/dc/elements/1.1/"/>
    <ds:schemaRef ds:uri="http://purl.org/dc/dcmitype/"/>
    <ds:schemaRef ds:uri="http://purl.org/dc/terms/"/>
    <ds:schemaRef ds:uri="3bf6d2de-cfb7-466c-825b-051a8e3c8b7d"/>
    <ds:schemaRef ds:uri="eb985106-e679-49f3-96ac-a9b04172565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B612FCE-545A-4F03-81A0-AB536EFD55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7a9d8d-ed96-4a98-86af-776441872cb7"/>
    <ds:schemaRef ds:uri="eb985106-e679-49f3-96ac-a9b04172565e"/>
    <ds:schemaRef ds:uri="3bf6d2de-cfb7-466c-825b-051a8e3c8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Durham University_powerpoint 29.08.19 FINAL</Template>
  <TotalTime>632</TotalTime>
  <Words>2075</Words>
  <Application>Microsoft Macintosh PowerPoint</Application>
  <PresentationFormat>On-screen Show (16:9)</PresentationFormat>
  <Paragraphs>354</Paragraphs>
  <Slides>47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Aptos</vt:lpstr>
      <vt:lpstr>Arial</vt:lpstr>
      <vt:lpstr>Calibri</vt:lpstr>
      <vt:lpstr>Cambria Math</vt:lpstr>
      <vt:lpstr>Lucida Grande</vt:lpstr>
      <vt:lpstr>Office Theme</vt:lpstr>
      <vt:lpstr>Natural Language Processing </vt:lpstr>
      <vt:lpstr>What is Natural Language Processing?</vt:lpstr>
      <vt:lpstr>Use Case: Text Classification</vt:lpstr>
      <vt:lpstr>Use Case: Text Classification</vt:lpstr>
      <vt:lpstr>Use Case: Entity Recognition</vt:lpstr>
      <vt:lpstr>NLP: A Brief History</vt:lpstr>
      <vt:lpstr>Solve these sums…</vt:lpstr>
      <vt:lpstr>Finish the sentences…</vt:lpstr>
      <vt:lpstr>Finish the sentences…</vt:lpstr>
      <vt:lpstr>Problem: sentences have multiple correct endings</vt:lpstr>
      <vt:lpstr>Problem: computers like numbers, and need algorithms</vt:lpstr>
      <vt:lpstr>Film Reviews</vt:lpstr>
      <vt:lpstr>Film Reviews</vt:lpstr>
      <vt:lpstr>Film Reviews</vt:lpstr>
      <vt:lpstr>Film Reviews</vt:lpstr>
      <vt:lpstr>Film Reviews</vt:lpstr>
      <vt:lpstr>Bag of Words</vt:lpstr>
      <vt:lpstr>Bag of Words</vt:lpstr>
      <vt:lpstr>Bag of words</vt:lpstr>
      <vt:lpstr>Bag of Words</vt:lpstr>
      <vt:lpstr>Bag of Words</vt:lpstr>
      <vt:lpstr>Problem: computers like numbers!  Solution: use word counts?</vt:lpstr>
      <vt:lpstr>Bag of Words</vt:lpstr>
      <vt:lpstr>Bag of Words</vt:lpstr>
      <vt:lpstr>Word Embeddings</vt:lpstr>
      <vt:lpstr>Word Embeddings</vt:lpstr>
      <vt:lpstr>Word Embeddings - Examples</vt:lpstr>
      <vt:lpstr>Word Embeddings: How are they generated?</vt:lpstr>
      <vt:lpstr>Word Embeddings: How are they generated?</vt:lpstr>
      <vt:lpstr>Word Embeddings: How are they generated?</vt:lpstr>
      <vt:lpstr>Word Embeddings: How are they generated?</vt:lpstr>
      <vt:lpstr>Word Embeddings: How are they generated?</vt:lpstr>
      <vt:lpstr>Word Embeddings: How are they generated?</vt:lpstr>
      <vt:lpstr>Trying the “meaning” model</vt:lpstr>
      <vt:lpstr>Setting up the notebook</vt:lpstr>
      <vt:lpstr>Transformers</vt:lpstr>
      <vt:lpstr>Transformers</vt:lpstr>
      <vt:lpstr>Transformers</vt:lpstr>
      <vt:lpstr>Why have transformers become so popular?</vt:lpstr>
      <vt:lpstr>Model Training</vt:lpstr>
      <vt:lpstr>Task: build a next-word generator</vt:lpstr>
      <vt:lpstr>Large Language Models</vt:lpstr>
      <vt:lpstr>Model Training</vt:lpstr>
      <vt:lpstr>Zero Shot Prompting</vt:lpstr>
      <vt:lpstr>Few Shot Prompting</vt:lpstr>
      <vt:lpstr>Prompting Guides</vt:lpstr>
      <vt:lpstr>Optional: try prompting in the browser</vt:lpstr>
    </vt:vector>
  </TitlesOfParts>
  <Company>Durham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STEPH</dc:creator>
  <cp:lastModifiedBy>WATSON, MATTHEW S.</cp:lastModifiedBy>
  <cp:revision>13</cp:revision>
  <dcterms:created xsi:type="dcterms:W3CDTF">2019-09-04T13:17:49Z</dcterms:created>
  <dcterms:modified xsi:type="dcterms:W3CDTF">2026-08-06T07:44:49Z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0x010100B9255A2D26DBCF40B9CE31933C067CE6</vt:lpwstr>
  </property>
  <property fmtid="{D5CDD505-2E9C-101B-9397-08002B2CF9AE}" pid="3" name="MediaServiceImageTags">
    <vt:lpwstr/>
  </property>
</Properties>
</file>